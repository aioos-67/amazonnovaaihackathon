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E3C3">
              <a:alpha val="75000"/>
            </a:srgbClr>
          </a:solidFill>
          <a:ln w="12700">
            <a:solidFill>
              <a:srgbClr val="F6E3C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02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F86"/>
                </a:solidFill>
              </a:rPr>
              <a:t>Authority-Gated Emergency Identity Disclosure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2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EmergencyAI 029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463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6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without exposure.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3"/>
                </a:solidFill>
              </a:rPr>
              <a:t>An Amazon Nova-powered emergency trust protocol for vulnerable individuals across senior safety, disability support, child protection, crash response, and anti-abduction scenarios.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4160520"/>
            <a:ext cx="4754880" cy="1261872"/>
          </a:xfrm>
          <a:prstGeom prst="roundRect">
            <a:avLst>
              <a:gd name="adj" fmla="val 8696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30682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Core Promise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4544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Help first. Verify first. Reveal less.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489204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029 enters protected emergency mode, broadcasts a one-way beacon, verifies responder authority, and discloses only the minimum information needed.</a:t>
            </a:r>
            <a:endParaRPr lang="en-US" sz="1100" dirty="0"/>
          </a:p>
        </p:txBody>
      </p:sp>
      <p:pic>
        <p:nvPicPr>
          <p:cNvPr id="12" name="Image 0" descr="D:\03-10-2026 Coddex\AmazonNovaAIHackathon\output\imagegen\mom-i-am-here-devpost-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777240"/>
            <a:ext cx="4526280" cy="4663440"/>
          </a:xfrm>
          <a:prstGeom prst="ellipse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3720" y="5715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F86"/>
                </a:solidFill>
              </a:rPr>
              <a:t>Live demo: aioos-67.github.io/AmazonNovaAIHackathon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59618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F86"/>
                </a:solidFill>
              </a:rPr>
              <a:t>Video: youtu.be/k-fRJgINd4k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EmergencyAI 029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326880" y="6446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Amazon Nova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E3C3">
              <a:alpha val="75000"/>
            </a:srgbClr>
          </a:solidFill>
          <a:ln w="12700">
            <a:solidFill>
              <a:srgbClr val="F6E3C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2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emergency systems fail in the silent gap before visible crisis.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tools assume the user can still interact, consent, pair a device, or safely expose identity. In real emergencies, those assumptions break.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5303520" cy="3154680"/>
          </a:xfrm>
          <a:prstGeom prst="roundRect">
            <a:avLst>
              <a:gd name="adj" fmla="val 3478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9514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Why current solutions fail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Conventional safety products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880360"/>
            <a:ext cx="493776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Depend on app sessions or live connectivity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Require active user interaction during distress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Expose personal information too early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Do not verify responder authority before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Break down for disoriented, unconscious, or vulnerable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5303520" cy="3154680"/>
          </a:xfrm>
          <a:prstGeom prst="roundRect">
            <a:avLst>
              <a:gd name="adj" fmla="val 3478"/>
            </a:avLst>
          </a:prstGeom>
          <a:solidFill>
            <a:srgbClr val="E8F0F5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95144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What 029 changes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A protocol, not just an app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493776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One-way protected beaconing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No inbound session establishment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Authority-gated disclosure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Role-specific minimal payloads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Offline-friendly emergency operation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EmergencyAI 029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0" y="6446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Amazon Nova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E3C3">
              <a:alpha val="75000"/>
            </a:srgbClr>
          </a:solidFill>
          <a:ln w="12700">
            <a:solidFill>
              <a:srgbClr val="F6E3C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2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steps turn uncertainty into verified intervention.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logic is simple enough to demo and strong enough to map to a defensible patent structure.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9F1"/>
          </a:solidFill>
          <a:ln w="12700">
            <a:solidFill>
              <a:srgbClr val="D9D1C3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2578608"/>
            <a:ext cx="384048" cy="384048"/>
          </a:xfrm>
          <a:prstGeom prst="ellipse">
            <a:avLst/>
          </a:prstGeom>
          <a:solidFill>
            <a:srgbClr val="18364C"/>
          </a:solidFill>
          <a:ln w="12700">
            <a:solidFill>
              <a:srgbClr val="1836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6517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" y="3090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2F"/>
                </a:solidFill>
              </a:rPr>
              <a:t>Detect 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Confusion, crash, panic, separation, or caregiver-confirmed distress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3154680"/>
            <a:ext cx="256032" cy="256032"/>
          </a:xfrm>
          <a:prstGeom prst="chevron">
            <a:avLst/>
          </a:prstGeom>
          <a:solidFill>
            <a:srgbClr val="1B5F86"/>
          </a:solidFill>
          <a:ln w="12700">
            <a:solidFill>
              <a:srgbClr val="1B5F8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377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9F1"/>
          </a:solidFill>
          <a:ln w="12700">
            <a:solidFill>
              <a:srgbClr val="D9D1C3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2578608"/>
            <a:ext cx="384048" cy="384048"/>
          </a:xfrm>
          <a:prstGeom prst="ellipse">
            <a:avLst/>
          </a:prstGeom>
          <a:solidFill>
            <a:srgbClr val="18364C"/>
          </a:solidFill>
          <a:ln w="12700">
            <a:solidFill>
              <a:srgbClr val="18364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26517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90672" y="3090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2F"/>
                </a:solidFill>
              </a:rPr>
              <a:t>Enter emergency mode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90672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Protected read-only state with no open inbound session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256032" cy="256032"/>
          </a:xfrm>
          <a:prstGeom prst="chevron">
            <a:avLst/>
          </a:prstGeom>
          <a:solidFill>
            <a:srgbClr val="1B5F86"/>
          </a:solidFill>
          <a:ln w="12700">
            <a:solidFill>
              <a:srgbClr val="1B5F8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377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6E3C3"/>
          </a:solidFill>
          <a:ln w="12700">
            <a:solidFill>
              <a:srgbClr val="D9D1C3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30952" y="2578608"/>
            <a:ext cx="384048" cy="384048"/>
          </a:xfrm>
          <a:prstGeom prst="ellipse">
            <a:avLst/>
          </a:prstGeom>
          <a:solidFill>
            <a:srgbClr val="18364C"/>
          </a:solidFill>
          <a:ln w="12700">
            <a:solidFill>
              <a:srgbClr val="18364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6517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30952" y="3090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2F"/>
                </a:solidFill>
              </a:rPr>
              <a:t>Broadcast beacon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30952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Nonce, region, agent type, and public-key hash only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95160" y="3154680"/>
            <a:ext cx="256032" cy="256032"/>
          </a:xfrm>
          <a:prstGeom prst="chevron">
            <a:avLst/>
          </a:prstGeom>
          <a:solidFill>
            <a:srgbClr val="1B5F86"/>
          </a:solidFill>
          <a:ln w="12700">
            <a:solidFill>
              <a:srgbClr val="1B5F8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2377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9F1"/>
          </a:solidFill>
          <a:ln w="12700">
            <a:solidFill>
              <a:srgbClr val="D9D1C3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71232" y="2578608"/>
            <a:ext cx="384048" cy="384048"/>
          </a:xfrm>
          <a:prstGeom prst="ellipse">
            <a:avLst/>
          </a:prstGeom>
          <a:solidFill>
            <a:srgbClr val="18364C"/>
          </a:solidFill>
          <a:ln w="12700">
            <a:solidFill>
              <a:srgbClr val="18364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26517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71232" y="3090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2F"/>
                </a:solidFill>
              </a:rPr>
              <a:t>Verify authority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71232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Responder must prove role, issuer, and jurisdiction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35440" y="3154680"/>
            <a:ext cx="256032" cy="256032"/>
          </a:xfrm>
          <a:prstGeom prst="chevron">
            <a:avLst/>
          </a:prstGeom>
          <a:solidFill>
            <a:srgbClr val="1B5F86"/>
          </a:solidFill>
          <a:ln w="12700">
            <a:solidFill>
              <a:srgbClr val="1B5F8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46920" y="2377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F9F1"/>
          </a:solidFill>
          <a:ln w="12700">
            <a:solidFill>
              <a:srgbClr val="D9D1C3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11512" y="2578608"/>
            <a:ext cx="384048" cy="384048"/>
          </a:xfrm>
          <a:prstGeom prst="ellipse">
            <a:avLst/>
          </a:prstGeom>
          <a:solidFill>
            <a:srgbClr val="18364C"/>
          </a:solidFill>
          <a:ln w="12700">
            <a:solidFill>
              <a:srgbClr val="18364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11512" y="26517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811512" y="30906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2F"/>
                </a:solidFill>
              </a:rPr>
              <a:t>Release minimum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811512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Only role-specific, purpose-bound emergency data is disclosed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EmergencyAI 029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326880" y="6446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Amazon Nova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E3C3">
              <a:alpha val="75000"/>
            </a:srgbClr>
          </a:solidFill>
          <a:ln w="12700">
            <a:solidFill>
              <a:srgbClr val="F6E3C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2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protocol supports multiple emergency contexts.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029 is strong because the same trust logic carries across vulnerable-user scenarios without becoming a generic assistant.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084832"/>
            <a:ext cx="3383280" cy="1298448"/>
          </a:xfrm>
          <a:prstGeom prst="roundRect">
            <a:avLst>
              <a:gd name="adj" fmla="val 8451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311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Deployment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Senior safety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Disorientation, wandering, memory breakdown, caregiver escalation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9976" y="2084832"/>
            <a:ext cx="3383280" cy="1298448"/>
          </a:xfrm>
          <a:prstGeom prst="roundRect">
            <a:avLst>
              <a:gd name="adj" fmla="val 8451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2311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Deployment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62856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Disability support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2856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Low-interaction emergencies, mobility and sensory constraints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2084832"/>
            <a:ext cx="3383280" cy="1298448"/>
          </a:xfrm>
          <a:prstGeom prst="roundRect">
            <a:avLst>
              <a:gd name="adj" fmla="val 8451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2311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Deployment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84464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Child protection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84464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Separation, guardian notification, reunification workflows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685032"/>
            <a:ext cx="3383280" cy="1298448"/>
          </a:xfrm>
          <a:prstGeom prst="roundRect">
            <a:avLst>
              <a:gd name="adj" fmla="val 8451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8313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Scenario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Crash response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4416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Unconscious users, split disclosure for EMT and police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79976" y="3685032"/>
            <a:ext cx="3383280" cy="1298448"/>
          </a:xfrm>
          <a:prstGeom prst="roundRect">
            <a:avLst>
              <a:gd name="adj" fmla="val 8451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62856" y="38313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Scenario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62856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Anti-abduction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62856" y="4416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Coercion-aware emergency signaling and restricted exposure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01584" y="3685032"/>
            <a:ext cx="3383280" cy="1298448"/>
          </a:xfrm>
          <a:prstGeom prst="roundRect">
            <a:avLst>
              <a:gd name="adj" fmla="val 8451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38313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Scenario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84464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Public safety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84464" y="4416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Role-specific packets for police, fire, EMT, and service agents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4465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EmergencyAI 029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26880" y="6446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Amazon Nova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E3C3">
              <a:alpha val="75000"/>
            </a:srgbClr>
          </a:solidFill>
          <a:ln w="12700">
            <a:solidFill>
              <a:srgbClr val="F6E3C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Nova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2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Nova capabilities make the patent feel like a real product.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judges should be able to see exactly why this is a Nova project rather than a generic model wrapper.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754880" cy="822960"/>
          </a:xfrm>
          <a:prstGeom prst="roundRect">
            <a:avLst>
              <a:gd name="adj" fmla="val 13333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579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Nova Capability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F"/>
                </a:solidFill>
              </a:rPr>
              <a:t>Nova 2 Sonic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43891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Calm voice reassurance and low-cognitive-load interaction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4754880" cy="822960"/>
          </a:xfrm>
          <a:prstGeom prst="roundRect">
            <a:avLst>
              <a:gd name="adj" fmla="val 13333"/>
            </a:avLst>
          </a:prstGeom>
          <a:solidFill>
            <a:srgbClr val="E8F0F5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F"/>
                </a:solidFill>
              </a:rPr>
              <a:t>Nova 2 Lite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43891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Risk scoring, mode shifts, policy and escalation decisions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4754880" cy="822960"/>
          </a:xfrm>
          <a:prstGeom prst="roundRect">
            <a:avLst>
              <a:gd name="adj" fmla="val 13333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F"/>
                </a:solidFill>
              </a:rPr>
              <a:t>Nova Multimodal Embeddings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498848"/>
            <a:ext cx="43891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Retrieve IDs, medications, care plans, and memory anchors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892040"/>
            <a:ext cx="4754880" cy="822960"/>
          </a:xfrm>
          <a:prstGeom prst="roundRect">
            <a:avLst>
              <a:gd name="adj" fmla="val 13333"/>
            </a:avLst>
          </a:prstGeom>
          <a:solidFill>
            <a:srgbClr val="E8F0F5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74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22F"/>
                </a:solidFill>
              </a:rPr>
              <a:t>Nova 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58968"/>
            <a:ext cx="438912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573"/>
                </a:solidFill>
              </a:rPr>
              <a:t>Run caregiver, follow-up, and public-service workflows after verification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201168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6E3C3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157984"/>
            <a:ext cx="4983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Why this scores well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3957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Technical depth + impact + novelty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2743200"/>
            <a:ext cx="498348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Technical implementation: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A clear multi-model operating chain with explicit protocol logic.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Enterprise and community impact: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Applicable across healthcare, public safety, caregivers, and vulnerable-user protection.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Creativity: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Frames AI as a verified emergency trust layer instead of another assistant.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EmergencyAI 029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0" y="6446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Amazon Nova AI Hackathon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4EA"/>
          </a:solidFill>
          <a:ln w="12700">
            <a:solidFill>
              <a:srgbClr val="FBF4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E3C3">
              <a:alpha val="75000"/>
            </a:srgbClr>
          </a:solidFill>
          <a:ln w="12700">
            <a:solidFill>
              <a:srgbClr val="F6E3C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2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EmergencyAI 029 is a protocol-driven safety product with a strong demo surface.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memorable because the product promise is concrete: help can arrive without exposing everything.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10312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E8F0F5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4942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Core Claim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Authority before disclosure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834640"/>
            <a:ext cx="3291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029 only releases useful emergency data after responder identity, role, and jurisdiction have been verified.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103120"/>
            <a:ext cx="3154680" cy="2286000"/>
          </a:xfrm>
          <a:prstGeom prst="roundRect">
            <a:avLst>
              <a:gd name="adj" fmla="val 4800"/>
            </a:avLst>
          </a:prstGeom>
          <a:solidFill>
            <a:srgbClr val="FFF9F1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24942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Demo Assets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24871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Ready for judges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834640"/>
            <a:ext cx="2788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Interactive site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Concept video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Voiceover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GitHub repo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Devpost submission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210312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6E3C3"/>
          </a:solidFill>
          <a:ln w="12700">
            <a:solidFill>
              <a:srgbClr val="D9D1C3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24942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F86"/>
                </a:solidFill>
              </a:rPr>
              <a:t>Ask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92440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2F"/>
                </a:solidFill>
              </a:rPr>
              <a:t>See the flow live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92440" y="2834640"/>
            <a:ext cx="32461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3"/>
                </a:solidFill>
              </a:rPr>
              <a:t>Use the site to switch scenarios, inspect responder payloads, and understand the end-to-end disclosure chain in under a minute.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8463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A6573"/>
                </a:solidFill>
              </a:rPr>
              <a:t>Patent framing: authority-gated, non-connective, minimal disclosure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A6573"/>
                </a:solidFill>
              </a:rPr>
              <a:t>Product framing: emergency trust agent for vulnerable individuals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5A6573"/>
                </a:solidFill>
              </a:rPr>
              <a:t>Nova framing: voice, reasoning, multimodal retrieval, and action in one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F86"/>
                </a:solidFill>
              </a:rPr>
              <a:t>Live site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5074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364C"/>
                </a:solidFill>
              </a:rPr>
              <a:t>https://aioos-67.github.io/AmazonNovaAIHackathon/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0" y="55595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F86"/>
                </a:solidFill>
              </a:rPr>
              <a:t>Video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55280" y="579729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364C"/>
                </a:solidFill>
              </a:rPr>
              <a:t>https://youtu.be/k-fRJgINd4k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EmergencyAI 029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0" y="64465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3"/>
                </a:solidFill>
              </a:rPr>
              <a:t>Amazon Nova AI Hackathon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FoodyePay Technology,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EmergencyAI 029</dc:title>
  <dc:subject>EmergencyAI 029 Judges Pitch</dc:subject>
  <dc:creator>OpenAI Codex</dc:creator>
  <cp:lastModifiedBy>OpenAI Codex</cp:lastModifiedBy>
  <cp:revision>1</cp:revision>
  <dcterms:created xsi:type="dcterms:W3CDTF">2026-03-13T16:35:32Z</dcterms:created>
  <dcterms:modified xsi:type="dcterms:W3CDTF">2026-03-13T16:35:32Z</dcterms:modified>
</cp:coreProperties>
</file>